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nton" charset="1" panose="00000500000000000000"/>
      <p:regular r:id="rId23"/>
    </p:embeddedFont>
    <p:embeddedFont>
      <p:font typeface="Open Sauce" charset="1" panose="00000500000000000000"/>
      <p:regular r:id="rId24"/>
    </p:embeddedFont>
    <p:embeddedFont>
      <p:font typeface="Open Sauc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55957" y="6018531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3731" y="1693937"/>
            <a:ext cx="7385569" cy="7564363"/>
          </a:xfrm>
          <a:custGeom>
            <a:avLst/>
            <a:gdLst/>
            <a:ahLst/>
            <a:cxnLst/>
            <a:rect r="r" b="b" t="t" l="l"/>
            <a:pathLst>
              <a:path h="7564363" w="7385569">
                <a:moveTo>
                  <a:pt x="0" y="0"/>
                </a:moveTo>
                <a:lnTo>
                  <a:pt x="7385569" y="0"/>
                </a:lnTo>
                <a:lnTo>
                  <a:pt x="7385569" y="7564363"/>
                </a:lnTo>
                <a:lnTo>
                  <a:pt x="0" y="756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61693"/>
            <a:ext cx="10604576" cy="800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4"/>
              </a:lnSpc>
              <a:spcBef>
                <a:spcPct val="0"/>
              </a:spcBef>
            </a:pPr>
            <a:r>
              <a:rPr lang="en-US" sz="11395" spc="-239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ANALIZA I DETEKCIJA PREVARA U MOBILNOM BANKARSTVU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2171926" y="7575930"/>
            <a:ext cx="7458400" cy="3364741"/>
          </a:xfrm>
          <a:custGeom>
            <a:avLst/>
            <a:gdLst/>
            <a:ahLst/>
            <a:cxnLst/>
            <a:rect r="r" b="b" t="t" l="l"/>
            <a:pathLst>
              <a:path h="3364741" w="7458400">
                <a:moveTo>
                  <a:pt x="7458400" y="0"/>
                </a:moveTo>
                <a:lnTo>
                  <a:pt x="0" y="0"/>
                </a:lnTo>
                <a:lnTo>
                  <a:pt x="0" y="3364740"/>
                </a:lnTo>
                <a:lnTo>
                  <a:pt x="7458400" y="3364740"/>
                </a:lnTo>
                <a:lnTo>
                  <a:pt x="7458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826017" y="2082357"/>
            <a:ext cx="4923967" cy="2221371"/>
          </a:xfrm>
          <a:custGeom>
            <a:avLst/>
            <a:gdLst/>
            <a:ahLst/>
            <a:cxnLst/>
            <a:rect r="r" b="b" t="t" l="l"/>
            <a:pathLst>
              <a:path h="2221371" w="4923967">
                <a:moveTo>
                  <a:pt x="4923966" y="0"/>
                </a:moveTo>
                <a:lnTo>
                  <a:pt x="0" y="0"/>
                </a:lnTo>
                <a:lnTo>
                  <a:pt x="0" y="2221371"/>
                </a:lnTo>
                <a:lnTo>
                  <a:pt x="4923966" y="2221371"/>
                </a:lnTo>
                <a:lnTo>
                  <a:pt x="4923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73731" y="9182100"/>
            <a:ext cx="6219468" cy="66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spc="-116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Mila Budimiriović IN22/2021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03689" y="-450223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23360"/>
            <a:ext cx="12874989" cy="164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6"/>
              </a:lnSpc>
              <a:spcBef>
                <a:spcPct val="0"/>
              </a:spcBef>
            </a:pPr>
            <a:r>
              <a:rPr lang="en-US" sz="9611" spc="-201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OPIS SKUPA PODATAKA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63203"/>
            <a:ext cx="16873769" cy="605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aziv: Mobile Money Fraud Detection Dataset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Kontekst: Sintetički skup podataka mobilnih novčanih transakcija kreiran za istraživanje detekcije prevara, zasnovan na realnim finansijskim logovima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Datoteke: transactions.csv, balance_features.csv, fraud_scenario_labels.csv, network_features.csv, risk_features.csv, sender_behavior_features.csv, sender_receiver_features.csv, temporal_features.csv (ukupno 8)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Ukupna veličina: 2.7GB</a:t>
            </a:r>
          </a:p>
          <a:p>
            <a:pPr algn="l">
              <a:lnSpc>
                <a:spcPts val="4029"/>
              </a:lnSpc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Broj zapisa: 6.362.620 transakcija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627195" y="746353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633" y="860768"/>
            <a:ext cx="12597714" cy="122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9"/>
              </a:lnSpc>
            </a:pPr>
            <a:r>
              <a:rPr lang="en-US" sz="9609" spc="-201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SEMANTIKA KOLONA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5633" y="2245048"/>
            <a:ext cx="1827457" cy="913729"/>
            <a:chOff x="0" y="0"/>
            <a:chExt cx="8128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5633" y="3220965"/>
            <a:ext cx="16636142" cy="706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-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type - tip transakcije (CASH-IN, CASH-OUT, DEBIT, PAYMENT, TRANSFER)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amount - iznos transakcije u lokalnoj valuti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nameOrig - korisnik koji je inicirao transakciju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oldbalanceOrg - stanje na računu pošiljaoca pre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newbalanceOrig - novo stanje na računu pošiljaoca nakon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nameDest - primalac transakcije  (korisnički račun/merchant)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oldbalanceDest - početno stanje na računu primaoca pre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newbalanceDest - novo stanje na računu primaoca nakon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isFraud - oznaka da li je transakcija lažna  (1 za prevaru, 0 za regularnu transakciju)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isFlaggedFraud - oznaka sistema za sumnjive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is_merchant_dest – oznaka da li je odredišni račun trgovac (merchant)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is_customer_dest – oznaka da li je odredišni račun običan korisnik (customer)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24086"/>
            <a:ext cx="4999606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transactions.csv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5633" y="3220965"/>
            <a:ext cx="16636142" cy="403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-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y – broj dana u mesecu 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our – sat u danu kada se transakcija izvršila 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eriod_of_day – doba dana kada je transakcija izvršena (npr. popodne, veče, itd.)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is_night – oznaka da li se transakcija dogodila tokom noći (1 za noć, 0 za ostala doba dana)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is_first_week – oznaka da li se transakcija dogodila tokom prve nedelje u mesecu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is_first_h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alf_month – oznaka da li se transakcija dogodila u prvoj polovini meseca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361" y="555968"/>
            <a:ext cx="5862391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temporal_features.csv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5633" y="3105785"/>
            <a:ext cx="16636142" cy="454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-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nameOrig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korisnički račun koji je inicirao transakciju (pošiljalac)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nameDest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račun korisnika ili trgovca koji je primio transakciju (primalac)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sam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e_receiver_count_24h – broj transakcija između istog pošiljaoca i primaoca tokom poslednja 24 sata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sender_receiver_tx_count_so_far – broj prethodnih transakcija između istog pošiljaoca i primaoca pre trenutne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is_new_receiver_for_sender – oznaka da li je ovo prva zabeležena transakcija između ovog pošiljaoca i ovog primaoca (1 za da, 0 za 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361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sender_receiver_features.csv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5633" y="3105785"/>
            <a:ext cx="16636142" cy="706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-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nameOrig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korisnički račun koji je inicirao transakciju (pošiljalac)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sender_tx_count_total_so_far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ukupan broj prethodnih transakcija koje je pošiljalac izvršio pre trenutne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ender_tx_count_1h – broj transakcija koje je pošiljalac izvršio tokom 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istog sata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sender_tx_count_24h – broj transakcija koje je pošiljalac izvršio u poslednja 24 sata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sender_total_amount_24h – ukupan iznos novca koji je pošiljalac poslao u poslednja 24 sata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sender_avg_amount_24h – prosečan iznos transakcije pošiljaoca u poslednja 24 sata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amount_to_sender_avg_ratio – odnos između iznosa trenutne transakcije i pošiljaočevog proseka u poslednja 24 sata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sender_unique_receivers_24h – broj različitih primalaca kojima je pošiljalac slao novac u poslednja 24 sata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89361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sender_behavior_features.csv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23158" y="1907516"/>
            <a:ext cx="16636142" cy="807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–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risk_score_rule_based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bodovi rizika zasnovani na poslovnim pravilima 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risk_level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kategorija rizika izvedena iz bodova rizika (npr. nizak, srednji, visok)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risk_rea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so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n_count – broj detektovanih signala rizika za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datu transakciju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high_amount_flag – oznaka da li je iznos transakcije neuobičajeno visok (1 za da, 0 za ne)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high_velocity_flag – oznaka da li pošiljalac ima neuobičajeno visoku učestalost (brzinu) transakcija u kratkom vremenskom periodu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new_receiver_flag – oznaka da li je ovo prva uočena transakcija između tog pošiljaoca i primaoca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many_to_one_receiver_flag – oznaka da li je primalac primio sredstva od velikog broja različitih pošiljalaca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suspicious_cashout_flag – oznaka za sumnjiv obrazac podizanja/isplate novca (cash-out) na osnovu iznosa, brzine ili ponašanja primaoca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large_transfer_flag – oznaka za veliki transfer novca koji prelazi prag definisan poslovnim pravilom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336209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risk_features.csv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23158" y="1907516"/>
            <a:ext cx="16636142" cy="757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–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nameOrig – korisnički račun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koji je inicirao transakciju (pošiljalac)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nameDest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– račun korisnika ili trgovca koji je primio transakciju (primalac)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sender_out_degree_so_far – broj jedinstvenih primalaca sa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kojima se pošiljalac prethodno povezao 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receiver_in_degree_so_far – broj jedinstvenih pošiljalaca koji su prethodno slali novac ovom primaocu 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receiver_tx_count_so_far – ukupan broj prethodnih transakcija koje je ovaj primalac primio do sada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receiver_received_amount_so_far – ukupan iznos novca koji je ovaj primalac prethodno primio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sender_receiver_network_count_so_far – broj prethodnih transakcija u mreži koje su se desile isključivo između ovog konkretnog para pošiljaoca i primaoca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336209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network_features.csv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23158" y="2345123"/>
            <a:ext cx="16636142" cy="656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–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fraud_scenario – konkretan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scenario dodeljen transakciji na osnovu ponaša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nja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(npr. normal (regularno), original fraud (izvorna prevara), large transfer (veliki transfer), suspicious cash-out (sumn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jiva isplata) itd.)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scenario_group – šira kategorija kojoj scenario pripada (npr. normal ili engineered_suspicious_pattern)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is_original_fraud_label – oznaka da li je transakcija prevara prema izvornoj isFraud labeli iz PaySim dataset-a (1 za da, 0 za ne)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is_engineered_scenario – oznaka da li je scenario kreiran na osnovu inženjerskih/poslovnih pravila, umesto da je preuzet direktno iz izvorne PaySim labele (1 za da, 0 za ne)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23158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fraud_scenario_labels.csv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23158" y="1902169"/>
            <a:ext cx="16636142" cy="757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ransaction_id – jedinstveni identifikator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balance_diff_orig – razlika između stanja na računu pošiljaoca pre i nakon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balance_diff_dest – razlika između stanja na računu primaoca nakon i pre tran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expected_newbalanceOrig – očekivano novo stanje na računu pošiljaoca nakon transakcije (izračunato na osnovu iznosa tra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nsakcije)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pected_newbalanceDest – očekivano novo stanje na računu primaoca nakon transakcije (izračunato na osnovu iznosa transakcije)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orig_balance_error – razlika između stvarnog (uočenog) i oček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ivanog stanja na računu pošiljaoca nakon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dest_balance_error – razlika između stvarnog (uočenog) i očekivanog stanja na računu primaoca nakon transakcije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is_sender_balance_zero_after – oznaka da li je stanje na računu pošiljaoca palo na nulu nakon transakcije (1 za da, 0 za ne)</a:t>
            </a:r>
          </a:p>
          <a:p>
            <a:pPr algn="l">
              <a:lnSpc>
                <a:spcPts val="4029"/>
              </a:lnSpc>
            </a:pP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balance_features.csv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870" y="4365674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4305" y="338754"/>
            <a:ext cx="3470550" cy="2044469"/>
          </a:xfrm>
          <a:custGeom>
            <a:avLst/>
            <a:gdLst/>
            <a:ahLst/>
            <a:cxnLst/>
            <a:rect r="r" b="b" t="t" l="l"/>
            <a:pathLst>
              <a:path h="2044469" w="3470550">
                <a:moveTo>
                  <a:pt x="0" y="0"/>
                </a:moveTo>
                <a:lnTo>
                  <a:pt x="3470550" y="0"/>
                </a:lnTo>
                <a:lnTo>
                  <a:pt x="3470550" y="2044469"/>
                </a:lnTo>
                <a:lnTo>
                  <a:pt x="0" y="204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6682" y="632168"/>
            <a:ext cx="5822870" cy="2626897"/>
          </a:xfrm>
          <a:custGeom>
            <a:avLst/>
            <a:gdLst/>
            <a:ahLst/>
            <a:cxnLst/>
            <a:rect r="r" b="b" t="t" l="l"/>
            <a:pathLst>
              <a:path h="2626897" w="5822870">
                <a:moveTo>
                  <a:pt x="0" y="0"/>
                </a:moveTo>
                <a:lnTo>
                  <a:pt x="5822870" y="0"/>
                </a:lnTo>
                <a:lnTo>
                  <a:pt x="5822870" y="2626897"/>
                </a:lnTo>
                <a:lnTo>
                  <a:pt x="0" y="262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33" y="476929"/>
            <a:ext cx="1827457" cy="91372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23158" y="3482516"/>
            <a:ext cx="16636142" cy="403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is_dest_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balance_zero_before – oznaka da li je stanje na računu primaoca 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bilo nula pre transakcije (1 za da, 0 za 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ne)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is_d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est_balance_missing – oznaka da li podaci o stanju na računu primaoca nedostaju </a:t>
            </a:r>
          </a:p>
          <a:p>
            <a:pPr algn="l">
              <a:lnSpc>
                <a:spcPts val="4029"/>
              </a:lnSpc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( čest slučaj kada je primalac trgovac/merchant)</a:t>
            </a:r>
          </a:p>
          <a:p>
            <a:pPr algn="l" marL="669281" indent="-334641" lvl="1">
              <a:lnSpc>
                <a:spcPts val="4029"/>
              </a:lnSpc>
              <a:buFont typeface="Arial"/>
              <a:buChar char="•"/>
            </a:pP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leakage_warning – upozora</a:t>
            </a:r>
            <a:r>
              <a:rPr lang="en-US" sz="3099" spc="-92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vajuća oznaka koja ukazuje na to da varijable povezane sa stanjem računa mogu uneti curenje podataka (data leakage) u modele za detekciju prevara</a:t>
            </a:r>
          </a:p>
          <a:p>
            <a:pPr algn="l">
              <a:lnSpc>
                <a:spcPts val="402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55968"/>
            <a:ext cx="7986170" cy="13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balance_features.csv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51050" y="3731899"/>
            <a:ext cx="6362851" cy="2870501"/>
          </a:xfrm>
          <a:custGeom>
            <a:avLst/>
            <a:gdLst/>
            <a:ahLst/>
            <a:cxnLst/>
            <a:rect r="r" b="b" t="t" l="l"/>
            <a:pathLst>
              <a:path h="2870501" w="6362851">
                <a:moveTo>
                  <a:pt x="0" y="0"/>
                </a:moveTo>
                <a:lnTo>
                  <a:pt x="6362851" y="0"/>
                </a:lnTo>
                <a:lnTo>
                  <a:pt x="6362851" y="2870501"/>
                </a:lnTo>
                <a:lnTo>
                  <a:pt x="0" y="2870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4455" y="1543050"/>
            <a:ext cx="5521313" cy="8229600"/>
          </a:xfrm>
          <a:custGeom>
            <a:avLst/>
            <a:gdLst/>
            <a:ahLst/>
            <a:cxnLst/>
            <a:rect r="r" b="b" t="t" l="l"/>
            <a:pathLst>
              <a:path h="8229600" w="5521313">
                <a:moveTo>
                  <a:pt x="0" y="0"/>
                </a:moveTo>
                <a:lnTo>
                  <a:pt x="5521314" y="0"/>
                </a:lnTo>
                <a:lnTo>
                  <a:pt x="55213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72289" y="924523"/>
            <a:ext cx="4474446" cy="2018576"/>
          </a:xfrm>
          <a:custGeom>
            <a:avLst/>
            <a:gdLst/>
            <a:ahLst/>
            <a:cxnLst/>
            <a:rect r="r" b="b" t="t" l="l"/>
            <a:pathLst>
              <a:path h="2018576" w="4474446">
                <a:moveTo>
                  <a:pt x="0" y="0"/>
                </a:moveTo>
                <a:lnTo>
                  <a:pt x="4474446" y="0"/>
                </a:lnTo>
                <a:lnTo>
                  <a:pt x="4474446" y="2018576"/>
                </a:lnTo>
                <a:lnTo>
                  <a:pt x="0" y="2018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387" y="669778"/>
            <a:ext cx="12645505" cy="2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0"/>
              </a:lnSpc>
            </a:pPr>
            <a:r>
              <a:rPr lang="en-US" sz="9800" spc="-205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PROLAZ KROZ DATOTEKE PUTEM KLJUCEVA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085" y="3366199"/>
            <a:ext cx="12488109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transacti</a:t>
            </a: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ons.csv → transaction_id, nameOrig, nameDest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balance_features.csv → transaction_id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temporal_features.csv → transaction_id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sender_behavior_features.csv → transaction_id, nameOrig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sender_receiver_features.csv → transaction_id, nameOrig, nameDest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network_features.csv → transaction_id, nameOrig, nameDest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risk_features.csv → transaction_id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fraud_scenario_labels.csv → transaction_id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51050" y="3731899"/>
            <a:ext cx="6362851" cy="2870501"/>
          </a:xfrm>
          <a:custGeom>
            <a:avLst/>
            <a:gdLst/>
            <a:ahLst/>
            <a:cxnLst/>
            <a:rect r="r" b="b" t="t" l="l"/>
            <a:pathLst>
              <a:path h="2870501" w="6362851">
                <a:moveTo>
                  <a:pt x="0" y="0"/>
                </a:moveTo>
                <a:lnTo>
                  <a:pt x="6362851" y="0"/>
                </a:lnTo>
                <a:lnTo>
                  <a:pt x="6362851" y="2870501"/>
                </a:lnTo>
                <a:lnTo>
                  <a:pt x="0" y="2870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4455" y="1543050"/>
            <a:ext cx="5521313" cy="8229600"/>
          </a:xfrm>
          <a:custGeom>
            <a:avLst/>
            <a:gdLst/>
            <a:ahLst/>
            <a:cxnLst/>
            <a:rect r="r" b="b" t="t" l="l"/>
            <a:pathLst>
              <a:path h="8229600" w="5521313">
                <a:moveTo>
                  <a:pt x="0" y="0"/>
                </a:moveTo>
                <a:lnTo>
                  <a:pt x="5521314" y="0"/>
                </a:lnTo>
                <a:lnTo>
                  <a:pt x="55213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72289" y="924523"/>
            <a:ext cx="4474446" cy="2018576"/>
          </a:xfrm>
          <a:custGeom>
            <a:avLst/>
            <a:gdLst/>
            <a:ahLst/>
            <a:cxnLst/>
            <a:rect r="r" b="b" t="t" l="l"/>
            <a:pathLst>
              <a:path h="2018576" w="4474446">
                <a:moveTo>
                  <a:pt x="0" y="0"/>
                </a:moveTo>
                <a:lnTo>
                  <a:pt x="4474446" y="0"/>
                </a:lnTo>
                <a:lnTo>
                  <a:pt x="4474446" y="2018576"/>
                </a:lnTo>
                <a:lnTo>
                  <a:pt x="0" y="2018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387" y="669778"/>
            <a:ext cx="12645505" cy="2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0"/>
              </a:lnSpc>
            </a:pPr>
            <a:r>
              <a:rPr lang="en-US" sz="9800" spc="-205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PRIMER PROSTIRANJA PODATAKA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085" y="3366199"/>
            <a:ext cx="17777915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transacti</a:t>
            </a: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ons.csv → transaction_id = TXN_00001, nameOrig = C123456789, nameDest = C987654321, type = TRANSFER, amount = 250000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balance_features.csv → transaction_id = TXN_00001, b</a:t>
            </a: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alance_diff_orig = -250000, is_sender_balance_zero_after = 1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temporal_features.csv → transaction_id = TXN_00001, hour = 2, is_night = 1, is_first_week = 0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sender_behavior_features.csv → transaction_id = TXN_00001, sender_tx_count_1h = 5, amount_to_sender_avg_ratio = 8.3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risk_features.csv → transaction_id = TXN_00001, risk_level = high, suspicious_cashout_flag = 1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raud_scenario_labels.csv → transaction_id = TXN_00001, fraud_scenario = suspicious cash-out, is_original_fraud_label = 1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530533" y="-342101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01315"/>
            <a:ext cx="16230600" cy="167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0"/>
              </a:lnSpc>
            </a:pPr>
            <a:r>
              <a:rPr lang="en-US" sz="13010" spc="-273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PREDLOG LOGIČKE ŠEME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0114" y="2612390"/>
            <a:ext cx="5372239" cy="662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{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"_id": "TXN_00001",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"type": "TRANSFER",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"amount": 250000,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</a:t>
            </a:r>
            <a:r>
              <a:rPr lang="en-US" sz="1599" spc="-47" b="true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sender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"nameOrig": "C123456789",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"oldbalanceOrg": 250000,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"newbalanceOrig": 0,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"</a:t>
            </a:r>
            <a:r>
              <a:rPr lang="en-US" sz="1599" spc="-47" b="true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behavior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"sender_tx_count_total_so_far": 45,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"sender_tx_count_1h": 5,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"sender_tx_count_24h": 12,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"sender_total_amount_24h": 980000,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"sender_avg_amount_24h": 81666,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"amount_to_sender_avg_ratio": 3.06,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"sender_unique_receivers_24h": 7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},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"</a:t>
            </a:r>
            <a:r>
              <a:rPr lang="en-US" sz="1599" spc="-47" b="true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network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   "sender_out_degree_so_far": 14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    }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},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64807" y="3164840"/>
            <a:ext cx="4443294" cy="552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</a:t>
            </a:r>
            <a:r>
              <a:rPr lang="en-US" sz="1599" spc="-47" b="true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receiver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"nameDest": "C987654321",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oldbalanceDest":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"newbalanceDest":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"is_merchant_dest":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"is_customer_dest":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"network": {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"receiver_in_degree_so_far": 23,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"receiver_tx_count_so_far": 45,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"receiver_received_amount_so_far": 5600000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}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},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"</a:t>
            </a:r>
            <a:r>
              <a:rPr lang="en-US" b="true" sz="1599" spc="-47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sender_receiver_relation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"same_receiver_count_24h": 3,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"sender_receiver_tx_count_so_far":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"is_new_receiver_for_sender":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"sender_receiver_network_count_so_far": 0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},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192452" y="2631440"/>
            <a:ext cx="3766304" cy="662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</a:t>
            </a:r>
            <a:r>
              <a:rPr lang="en-US" sz="1599" spc="-47" b="true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temporal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"day": 14,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"h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our": 2,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"period_of_day": "evening",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"is_night":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"is_first_week":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"is_first_half_month": 1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},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"</a:t>
            </a:r>
            <a:r>
              <a:rPr lang="en-US" b="true" sz="1599" spc="-47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balance_analysis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"balance_diff_orig": -250000,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"balance_diff_dest":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"expected_newbalanceOrig":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"expected_newbalanceDest": 250000,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"orig_balance_error":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"dest_balance_error": -250000,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"is_sender_balance_zero_after":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"is_dest_balance_zero_before":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"is_dest_balance_missing":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"leakage_warning": 1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}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07565"/>
            <a:ext cx="162306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89">
                <a:solidFill>
                  <a:srgbClr val="35B27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KOLEKCIJA TRANSACTIONS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530533" y="-342101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01315"/>
            <a:ext cx="16230600" cy="167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0"/>
              </a:lnSpc>
            </a:pPr>
            <a:r>
              <a:rPr lang="en-US" sz="13010" spc="-273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PREDLOG LOGIČKE ŠEME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07565"/>
            <a:ext cx="162306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89">
                <a:solidFill>
                  <a:srgbClr val="35B27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KOLEKCIJA RISKS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6627" y="2907665"/>
            <a:ext cx="8099926" cy="635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</a:t>
            </a:r>
            <a:r>
              <a:rPr lang="en-US" sz="1599" spc="-47" b="true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"risk_sc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ore_rule_based": 87,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"risk_level": "high",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"risk_reason_count": 4,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"flags": {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"high_amount_flag":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"high_velocity_flag":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"new_receiver_flag":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"many_to_one_receiver_flag":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"suspicious_cashout_flag":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  "large_transfer_flag": 1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}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},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"</a:t>
            </a:r>
            <a:r>
              <a:rPr lang="en-US" b="true" sz="1599" spc="-47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fraud_label</a:t>
            </a: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": {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"isFraud": 1,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"isFlaggedFraud":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"fraud_scenario": "large transfer",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"scenario_group": "engineered_suspicious_pattern",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"is_original_fraud_label": 0,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  "is_engineered_scenario": 1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  }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9160" y="3394364"/>
            <a:ext cx="4870013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{ "_id": "TXN_00001",</a:t>
            </a:r>
            <a:r>
              <a:rPr lang="en-US" sz="1599" spc="-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"transaction_id": "TXN_00001",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78462" y="-606855"/>
            <a:ext cx="7250855" cy="3271110"/>
          </a:xfrm>
          <a:custGeom>
            <a:avLst/>
            <a:gdLst/>
            <a:ahLst/>
            <a:cxnLst/>
            <a:rect r="r" b="b" t="t" l="l"/>
            <a:pathLst>
              <a:path h="3271110" w="7250855">
                <a:moveTo>
                  <a:pt x="0" y="0"/>
                </a:moveTo>
                <a:lnTo>
                  <a:pt x="7250855" y="0"/>
                </a:lnTo>
                <a:lnTo>
                  <a:pt x="7250855" y="3271110"/>
                </a:lnTo>
                <a:lnTo>
                  <a:pt x="0" y="327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9265" y="929168"/>
            <a:ext cx="16069818" cy="191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18"/>
              </a:lnSpc>
            </a:pPr>
            <a:r>
              <a:rPr lang="en-US" sz="14810" spc="-311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PREDLOZI AGREGACIJE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257070" y="7530354"/>
            <a:ext cx="3830224" cy="1727946"/>
          </a:xfrm>
          <a:custGeom>
            <a:avLst/>
            <a:gdLst/>
            <a:ahLst/>
            <a:cxnLst/>
            <a:rect r="r" b="b" t="t" l="l"/>
            <a:pathLst>
              <a:path h="1727946" w="3830224">
                <a:moveTo>
                  <a:pt x="0" y="0"/>
                </a:moveTo>
                <a:lnTo>
                  <a:pt x="3830224" y="0"/>
                </a:lnTo>
                <a:lnTo>
                  <a:pt x="3830224" y="1727946"/>
                </a:lnTo>
                <a:lnTo>
                  <a:pt x="0" y="1727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945" y="2780768"/>
            <a:ext cx="17471055" cy="692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Koji tipovi transakcija ka novim prima</a:t>
            </a: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ocima (is_new_receiver_for_sender = 1) najčešće rezultuju prevarama, i kako se prosečan risk_score razlikuje u zavisnosti od toga da li je primalac merchant ili customer?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U kom periodu dana je suspicious_cashout_flag najčešći, koji fraud_scenario dominira u tom periodu i koliki je prosečan iznos tih transakcija u odnosu na ostale?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Koji primaoci su primili novac od najvećeg broja različitih pošiljalaca, koliki je procenat tih transakcija označen kao prevara i koji risk_level dominira među njima?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Koje kombinacije rizičnih oznaka se najčešće pojavljuju kod kvarnih transakcija i u kom periodu dana se te transakcije najčešće dešavaju?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 spc="-89">
                <a:solidFill>
                  <a:srgbClr val="3E3A4E"/>
                </a:solidFill>
                <a:latin typeface="Open Sauce"/>
                <a:ea typeface="Open Sauce"/>
                <a:cs typeface="Open Sauce"/>
                <a:sym typeface="Open Sauce"/>
              </a:rPr>
              <a:t>Koliki procenat transakcija gde je stanje pošiljaoca palo na nulu nakon transakcije je označen kao prevara, grupisano po tipu transakcije i nivou rizika, i kako se prosečan risk_score razlikuje između originalnih PaySim prevara i engineered scenarija?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669068" y="300518"/>
            <a:ext cx="53828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89">
                <a:solidFill>
                  <a:srgbClr val="3E3A4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iz perspektive Fraud Analyst-a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962" y="9258300"/>
            <a:ext cx="18423924" cy="1028700"/>
            <a:chOff x="0" y="0"/>
            <a:chExt cx="4852392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2391" cy="270933"/>
            </a:xfrm>
            <a:custGeom>
              <a:avLst/>
              <a:gdLst/>
              <a:ahLst/>
              <a:cxnLst/>
              <a:rect r="r" b="b" t="t" l="l"/>
              <a:pathLst>
                <a:path h="270933" w="4852391">
                  <a:moveTo>
                    <a:pt x="0" y="0"/>
                  </a:moveTo>
                  <a:lnTo>
                    <a:pt x="4852391" y="0"/>
                  </a:lnTo>
                  <a:lnTo>
                    <a:pt x="485239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EC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239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42768"/>
            <a:ext cx="10604576" cy="615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22"/>
              </a:lnSpc>
            </a:pPr>
            <a:r>
              <a:rPr lang="en-US" sz="26092" spc="-547">
                <a:solidFill>
                  <a:srgbClr val="3E3A4E"/>
                </a:solidFill>
                <a:latin typeface="Anton"/>
                <a:ea typeface="Anton"/>
                <a:cs typeface="Anton"/>
                <a:sym typeface="Anton"/>
              </a:rPr>
              <a:t>IN 22/2021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092878" y="6582500"/>
            <a:ext cx="5118466" cy="2309116"/>
          </a:xfrm>
          <a:custGeom>
            <a:avLst/>
            <a:gdLst/>
            <a:ahLst/>
            <a:cxnLst/>
            <a:rect r="r" b="b" t="t" l="l"/>
            <a:pathLst>
              <a:path h="2309116" w="5118466">
                <a:moveTo>
                  <a:pt x="0" y="0"/>
                </a:moveTo>
                <a:lnTo>
                  <a:pt x="5118466" y="0"/>
                </a:lnTo>
                <a:lnTo>
                  <a:pt x="5118466" y="2309116"/>
                </a:lnTo>
                <a:lnTo>
                  <a:pt x="0" y="230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4104362" y="5143500"/>
            <a:ext cx="6379475" cy="2878001"/>
          </a:xfrm>
          <a:custGeom>
            <a:avLst/>
            <a:gdLst/>
            <a:ahLst/>
            <a:cxnLst/>
            <a:rect r="r" b="b" t="t" l="l"/>
            <a:pathLst>
              <a:path h="2878001" w="6379475">
                <a:moveTo>
                  <a:pt x="6379475" y="0"/>
                </a:moveTo>
                <a:lnTo>
                  <a:pt x="0" y="0"/>
                </a:lnTo>
                <a:lnTo>
                  <a:pt x="0" y="2878001"/>
                </a:lnTo>
                <a:lnTo>
                  <a:pt x="6379475" y="2878001"/>
                </a:lnTo>
                <a:lnTo>
                  <a:pt x="63794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826017" y="2082357"/>
            <a:ext cx="4923967" cy="2221371"/>
          </a:xfrm>
          <a:custGeom>
            <a:avLst/>
            <a:gdLst/>
            <a:ahLst/>
            <a:cxnLst/>
            <a:rect r="r" b="b" t="t" l="l"/>
            <a:pathLst>
              <a:path h="2221371" w="4923967">
                <a:moveTo>
                  <a:pt x="4923966" y="0"/>
                </a:moveTo>
                <a:lnTo>
                  <a:pt x="0" y="0"/>
                </a:lnTo>
                <a:lnTo>
                  <a:pt x="0" y="2221371"/>
                </a:lnTo>
                <a:lnTo>
                  <a:pt x="4923966" y="2221371"/>
                </a:lnTo>
                <a:lnTo>
                  <a:pt x="4923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13119" y="2515084"/>
            <a:ext cx="8115300" cy="7052933"/>
          </a:xfrm>
          <a:custGeom>
            <a:avLst/>
            <a:gdLst/>
            <a:ahLst/>
            <a:cxnLst/>
            <a:rect r="r" b="b" t="t" l="l"/>
            <a:pathLst>
              <a:path h="7052933" w="8115300">
                <a:moveTo>
                  <a:pt x="0" y="0"/>
                </a:moveTo>
                <a:lnTo>
                  <a:pt x="8115300" y="0"/>
                </a:lnTo>
                <a:lnTo>
                  <a:pt x="8115300" y="7052934"/>
                </a:lnTo>
                <a:lnTo>
                  <a:pt x="0" y="705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DAHLn67hYrc</dc:identifier>
  <dcterms:modified xsi:type="dcterms:W3CDTF">2011-08-01T06:04:30Z</dcterms:modified>
  <cp:revision>1</cp:revision>
  <dc:title>ANALIZA I DETEKCIJA PREVARA U MOBILNOM BANKARSTVU</dc:title>
</cp:coreProperties>
</file>